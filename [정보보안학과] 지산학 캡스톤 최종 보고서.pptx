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7" r:id="rId17"/>
    <p:sldId id="278" r:id="rId18"/>
    <p:sldId id="279" r:id="rId19"/>
    <p:sldId id="276" r:id="rId20"/>
    <p:sldId id="275" r:id="rId21"/>
    <p:sldId id="28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FDD9C-9F1A-C679-E6FF-359AF28F6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0CF4D6-A620-31DD-6F50-CEC85B300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B828-DE61-8B8E-95D1-EF676849C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11AA5-902F-7A47-AD1D-79FC7FDC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DAD06-045F-EAA0-B295-D1EE576D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51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C305E-3246-C25C-721E-83C545FB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EDACA-246B-F415-A832-00D483CE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20177-4575-04C9-658E-F4992A2F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A3EBC-17A5-85DF-4D17-10404C8A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15F61-6AED-E99C-C10E-6E1ED6EC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1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6652A-DD9D-B278-21A4-20ABB3D7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505BDB-3326-F360-330E-67ECCC71D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F0A98-5768-FF9A-2A07-3F281A01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9C0DD-B02C-1DFE-8F4A-855B8468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E6633-BE48-28BC-73AC-5319328E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8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F1FE-55B1-9577-93B1-49E2390C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3A472E-2508-BDE4-9694-0EF634826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162B6A-3081-6811-E8C2-2C4AA0D62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B534C-B776-4FB5-7A8E-E1EE860B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C2E7FA-AE40-BAA4-1B4B-8A9695DE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FC59E-3F01-C4CC-8B5B-D729AAC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52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7E07A-D6D5-7354-F931-E43A05CB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200ED4-1452-806B-78AB-EFDDC1E6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0BF4A7-0D94-18F2-45BE-49FD2F8E2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822339-5915-814F-4A6A-8A29B620F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C7C9F0-F12F-58A6-FF75-4BBA078CA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D23E28-813A-4D1B-F8C0-7A444BE9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2ECB00-EA06-5A1B-A8AC-E3A0FBCB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4373CF-F608-F074-ADE6-1FE0109A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68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6E0CB-8850-9649-3374-9760C11D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2047A-305D-E751-A1A9-249429DB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A15B8D-BB40-8108-CFE7-7F6F473B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77A6F4-FB64-737C-81FB-693D9531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5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6CB9C6-6ED9-8DE6-D386-69A0209F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7E12FC-21CB-5DB1-E668-F7E597B2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9E318-7FF0-1FF1-C46A-3394268C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2D0DD-A392-6935-B974-C1D4DBFF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3401F-78B7-FDF4-FE19-6EB33A306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1CA37-3E86-CE48-C6E7-F03E1B2DB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575AF4-8C51-F083-2844-2A6E6E7B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B074AA-2735-7489-41EA-C2FBCC5B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4764E-7B23-9FC7-C9A3-412AB492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93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F878C-1BF2-61E9-C244-AB74E95D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82E126-0C3D-5F49-62E8-50782F3DC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FEAEE3-9D83-D1D1-5601-FE99AF002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9E447-8315-B958-A4D9-8DF850E6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61529F-14B2-7305-9557-7CCEB2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B4121-FC11-A20D-8D36-837250D5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3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442D6-3753-14C0-01D9-7421C3D6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BDCD56-18B1-F735-3487-0EBD30571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D3783-2E91-9B91-56E5-72BA5756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CA458-0600-E6C7-64B0-CED2D4A60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F7A0C9-C4C7-EE75-4E5D-EF685D9A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14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B66E1E-9C0E-3E34-1E1E-31F9F26E5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A0C01-1BF6-AC47-2E5E-9E333CDD4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BB738E-398A-10A8-B1A8-41E47A1D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489C29-2B33-B99C-4C4F-C7F7CEB8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4A69F-21D0-9C76-717C-80D3D380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9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BCF869-E01A-0AF9-459C-F5AF2602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4AA96-128C-BB12-6377-549BBAE9F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FA0B7-3D88-3522-3045-59F852346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ACBE4-ABF4-4B7F-99E9-A44F5A121EE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5D8AB-EA3D-AF99-1E3B-7C4C1B83F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62348-03EA-43AD-B246-DB4EFA58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57EA7-A621-4CB7-82F5-39093CE42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46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7D32A-15B7-1646-935B-97B053C5E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647" y="576169"/>
            <a:ext cx="6246055" cy="2714038"/>
          </a:xfrm>
        </p:spPr>
        <p:txBody>
          <a:bodyPr>
            <a:normAutofit/>
          </a:bodyPr>
          <a:lstStyle/>
          <a:p>
            <a:pPr algn="l"/>
            <a:r>
              <a:rPr lang="ko-KR" altLang="en-US"/>
              <a:t>지산학 </a:t>
            </a:r>
            <a:br>
              <a:rPr lang="en-US" altLang="ko-KR"/>
            </a:br>
            <a:r>
              <a:rPr lang="ko-KR" altLang="en-US"/>
              <a:t>프로젝트</a:t>
            </a:r>
            <a:br>
              <a:rPr lang="en-US" altLang="ko-KR"/>
            </a:br>
            <a:r>
              <a:rPr lang="ko-KR" altLang="en-US"/>
              <a:t>최종 결과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5E80A1-7547-4577-0D58-2900C25EC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647" y="3567794"/>
            <a:ext cx="6842687" cy="522843"/>
          </a:xfrm>
        </p:spPr>
        <p:txBody>
          <a:bodyPr/>
          <a:lstStyle/>
          <a:p>
            <a:pPr algn="l"/>
            <a:r>
              <a:rPr lang="ko-KR" altLang="en-US"/>
              <a:t>프로젝트명 </a:t>
            </a:r>
            <a:r>
              <a:rPr lang="en-US" altLang="ko-KR"/>
              <a:t>: AI </a:t>
            </a:r>
            <a:r>
              <a:rPr lang="ko-KR" altLang="en-US"/>
              <a:t>기반 문화재 </a:t>
            </a:r>
            <a:r>
              <a:rPr lang="en-US" altLang="ko-KR"/>
              <a:t>3D/AR</a:t>
            </a:r>
            <a:r>
              <a:rPr lang="ko-KR" altLang="en-US"/>
              <a:t> 가상 박물관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AFD3EA79-D5FC-CCB1-4705-4F6F8574961A}"/>
              </a:ext>
            </a:extLst>
          </p:cNvPr>
          <p:cNvSpPr txBox="1">
            <a:spLocks/>
          </p:cNvSpPr>
          <p:nvPr/>
        </p:nvSpPr>
        <p:spPr>
          <a:xfrm>
            <a:off x="856647" y="5236244"/>
            <a:ext cx="7484014" cy="52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/>
              <a:t>팀장 </a:t>
            </a:r>
            <a:r>
              <a:rPr lang="en-US" altLang="ko-KR"/>
              <a:t>: </a:t>
            </a:r>
            <a:r>
              <a:rPr lang="ko-KR" altLang="en-US"/>
              <a:t>최성국</a:t>
            </a:r>
            <a:r>
              <a:rPr lang="en-US" altLang="ko-KR"/>
              <a:t>	    </a:t>
            </a:r>
            <a:r>
              <a:rPr lang="ko-KR" altLang="en-US"/>
              <a:t>팀원 </a:t>
            </a:r>
            <a:r>
              <a:rPr lang="en-US" altLang="ko-KR"/>
              <a:t>: </a:t>
            </a:r>
            <a:r>
              <a:rPr lang="ko-KR" altLang="en-US"/>
              <a:t>강혜인</a:t>
            </a:r>
            <a:r>
              <a:rPr lang="en-US" altLang="ko-KR"/>
              <a:t>, </a:t>
            </a:r>
            <a:r>
              <a:rPr lang="ko-KR" altLang="en-US"/>
              <a:t>토니</a:t>
            </a:r>
            <a:r>
              <a:rPr lang="en-US" altLang="ko-KR"/>
              <a:t>, </a:t>
            </a:r>
            <a:r>
              <a:rPr lang="ko-KR" altLang="en-US"/>
              <a:t>응엔 괘 비엔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6C6EEA-10BC-8898-7502-F936F3D1BE62}"/>
              </a:ext>
            </a:extLst>
          </p:cNvPr>
          <p:cNvSpPr txBox="1">
            <a:spLocks/>
          </p:cNvSpPr>
          <p:nvPr/>
        </p:nvSpPr>
        <p:spPr>
          <a:xfrm>
            <a:off x="856647" y="4402019"/>
            <a:ext cx="6842687" cy="52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/>
              <a:t>기업 멘토 </a:t>
            </a:r>
            <a:r>
              <a:rPr lang="en-US" altLang="ko-KR"/>
              <a:t>: (</a:t>
            </a:r>
            <a:r>
              <a:rPr lang="ko-KR" altLang="en-US"/>
              <a:t>주</a:t>
            </a:r>
            <a:r>
              <a:rPr lang="en-US" altLang="ko-KR"/>
              <a:t>) </a:t>
            </a:r>
            <a:r>
              <a:rPr lang="ko-KR" altLang="en-US"/>
              <a:t>유토비즈 박선희 부회장</a:t>
            </a:r>
          </a:p>
        </p:txBody>
      </p:sp>
    </p:spTree>
    <p:extLst>
      <p:ext uri="{BB962C8B-B14F-4D97-AF65-F5344CB8AC3E}">
        <p14:creationId xmlns:p14="http://schemas.microsoft.com/office/powerpoint/2010/main" val="26600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0A51C82-73D2-DC46-CAB7-FF6EE2B8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4696328" cy="718469"/>
          </a:xfrm>
        </p:spPr>
        <p:txBody>
          <a:bodyPr>
            <a:noAutofit/>
          </a:bodyPr>
          <a:lstStyle/>
          <a:p>
            <a:r>
              <a:rPr lang="ko-KR" altLang="en-US"/>
              <a:t>기획 의도 및 배경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DE1F82F-655A-F03D-2A04-82EF16D31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/>
              <a:t>문제 인식</a:t>
            </a:r>
            <a:r>
              <a:rPr lang="en-US" altLang="ko-KR" sz="2400"/>
              <a:t>:</a:t>
            </a:r>
          </a:p>
          <a:p>
            <a:r>
              <a:rPr lang="ko-KR" altLang="en-US" sz="2000"/>
              <a:t>주요 문화재는 물리적 거리와 보존 문제로 인해 일반인의 접근이 제한적임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기존의 </a:t>
            </a:r>
            <a:r>
              <a:rPr lang="en-US" altLang="ko-KR" sz="2000"/>
              <a:t>3D </a:t>
            </a:r>
            <a:r>
              <a:rPr lang="ko-KR" altLang="en-US" sz="2000"/>
              <a:t>복원 기술</a:t>
            </a:r>
            <a:r>
              <a:rPr lang="en-US" altLang="ko-KR" sz="2000"/>
              <a:t>(Photogrammetry, LiDAR)</a:t>
            </a:r>
            <a:r>
              <a:rPr lang="ko-KR" altLang="en-US" sz="2000"/>
              <a:t>은 고가의 장비와 전문 기술이 필요하여 일반인이 활용하기 어려움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훼손되거나 소실되어 사진으로만 남은 유물은 입체적인 경험이 불가능함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프로젝트 목표</a:t>
            </a:r>
            <a:r>
              <a:rPr lang="en-US" altLang="ko-KR" sz="2400"/>
              <a:t>:</a:t>
            </a:r>
          </a:p>
          <a:p>
            <a:r>
              <a:rPr lang="ko-KR" altLang="en-US" sz="2000"/>
              <a:t>접근성 혁신</a:t>
            </a:r>
            <a:r>
              <a:rPr lang="en-US" altLang="ko-KR" sz="2000"/>
              <a:t>: </a:t>
            </a:r>
            <a:r>
              <a:rPr lang="ko-KR" altLang="en-US" sz="2000"/>
              <a:t>단 한 장의 사진</a:t>
            </a:r>
            <a:r>
              <a:rPr lang="en-US" altLang="ko-KR" sz="2000"/>
              <a:t>(Single-View)</a:t>
            </a:r>
            <a:r>
              <a:rPr lang="ko-KR" altLang="en-US" sz="2000"/>
              <a:t>만으로 고품질 </a:t>
            </a:r>
            <a:r>
              <a:rPr lang="en-US" altLang="ko-KR" sz="2000"/>
              <a:t>3D </a:t>
            </a:r>
            <a:r>
              <a:rPr lang="ko-KR" altLang="en-US" sz="2000"/>
              <a:t>콘텐츠를 생성하는 </a:t>
            </a:r>
            <a:r>
              <a:rPr lang="en-US" altLang="ko-KR" sz="2000"/>
              <a:t>WebXR </a:t>
            </a:r>
            <a:r>
              <a:rPr lang="ko-KR" altLang="en-US" sz="2000"/>
              <a:t>플랫폼 구축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교육</a:t>
            </a:r>
            <a:r>
              <a:rPr lang="en-US" altLang="ko-KR" sz="2000"/>
              <a:t>/</a:t>
            </a:r>
            <a:r>
              <a:rPr lang="ko-KR" altLang="en-US" sz="2000"/>
              <a:t>관광 가치 창출</a:t>
            </a:r>
            <a:r>
              <a:rPr lang="en-US" altLang="ko-KR" sz="2000"/>
              <a:t>: </a:t>
            </a:r>
            <a:r>
              <a:rPr lang="ko-KR" altLang="en-US" sz="2000"/>
              <a:t>단순 시각화를 넘어</a:t>
            </a:r>
            <a:r>
              <a:rPr lang="en-US" altLang="ko-KR" sz="2000"/>
              <a:t>, AI </a:t>
            </a:r>
            <a:r>
              <a:rPr lang="ko-KR" altLang="en-US" sz="2000"/>
              <a:t>도슨트</a:t>
            </a:r>
            <a:r>
              <a:rPr lang="en-US" altLang="ko-KR" sz="2000"/>
              <a:t>(</a:t>
            </a:r>
            <a:r>
              <a:rPr lang="ko-KR" altLang="en-US" sz="2000"/>
              <a:t>음성 해설</a:t>
            </a:r>
            <a:r>
              <a:rPr lang="en-US" altLang="ko-KR" sz="2000"/>
              <a:t>)</a:t>
            </a:r>
            <a:r>
              <a:rPr lang="ko-KR" altLang="en-US" sz="2000"/>
              <a:t>를 결합한 입체적 문화유산향유 환경 제공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257431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1998-4BBE-58C6-729E-5F5434BB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6BAB4EE-AC95-EE43-2A71-4D294FAB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4696328" cy="718469"/>
          </a:xfrm>
        </p:spPr>
        <p:txBody>
          <a:bodyPr>
            <a:noAutofit/>
          </a:bodyPr>
          <a:lstStyle/>
          <a:p>
            <a:r>
              <a:rPr lang="ko-KR" altLang="en-US"/>
              <a:t>팀 구성 및 역할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4336BBE-8FA4-68C6-ADBC-0E464D4B5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최성국 </a:t>
            </a:r>
            <a:r>
              <a:rPr lang="en-US" altLang="ko-KR" sz="2400"/>
              <a:t>: </a:t>
            </a:r>
          </a:p>
          <a:p>
            <a:r>
              <a:rPr lang="en-US" altLang="ko-KR" sz="2400"/>
              <a:t>WebXR </a:t>
            </a:r>
            <a:r>
              <a:rPr lang="ko-KR" altLang="en-US" sz="2400"/>
              <a:t>시스템 아키텍쳐 설계</a:t>
            </a:r>
            <a:r>
              <a:rPr lang="en-US" altLang="ko-KR" sz="2400"/>
              <a:t>, AI </a:t>
            </a:r>
            <a:r>
              <a:rPr lang="ko-KR" altLang="en-US" sz="2400"/>
              <a:t>파이프라인 핵심 로직 구현</a:t>
            </a:r>
            <a:r>
              <a:rPr lang="en-US" altLang="ko-KR" sz="2400"/>
              <a:t>,</a:t>
            </a:r>
          </a:p>
          <a:p>
            <a:pPr marL="0" indent="0">
              <a:buNone/>
            </a:pPr>
            <a:r>
              <a:rPr lang="ko-KR" altLang="en-US" sz="2400"/>
              <a:t>강혜인</a:t>
            </a:r>
            <a:endParaRPr lang="en-US" altLang="ko-KR" sz="2400"/>
          </a:p>
          <a:p>
            <a:r>
              <a:rPr lang="ko-KR" altLang="en-US" sz="2400"/>
              <a:t>안드로이드 </a:t>
            </a:r>
            <a:r>
              <a:rPr lang="en-US" altLang="ko-KR" sz="2400"/>
              <a:t>webview </a:t>
            </a:r>
            <a:r>
              <a:rPr lang="ko-KR" altLang="en-US" sz="2400"/>
              <a:t>패키지</a:t>
            </a:r>
            <a:r>
              <a:rPr lang="en-US" altLang="ko-KR" sz="2400"/>
              <a:t>, ui/ux </a:t>
            </a:r>
            <a:r>
              <a:rPr lang="ko-KR" altLang="en-US" sz="2400"/>
              <a:t>디자인</a:t>
            </a: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토니 </a:t>
            </a:r>
            <a:r>
              <a:rPr lang="en-US" altLang="ko-KR" sz="2400"/>
              <a:t>:</a:t>
            </a:r>
          </a:p>
          <a:p>
            <a:r>
              <a:rPr lang="en-US" altLang="ko-KR" sz="2400"/>
              <a:t>AI </a:t>
            </a:r>
            <a:r>
              <a:rPr lang="ko-KR" altLang="en-US" sz="2400"/>
              <a:t>모델 테스트</a:t>
            </a:r>
            <a:r>
              <a:rPr lang="en-US" altLang="ko-KR" sz="2400"/>
              <a:t>, </a:t>
            </a:r>
            <a:r>
              <a:rPr lang="ko-KR" altLang="en-US" sz="2400"/>
              <a:t>오픈소스 리서치</a:t>
            </a: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응엔 괘 비엔</a:t>
            </a:r>
            <a:r>
              <a:rPr lang="en-US" altLang="ko-KR" sz="2400"/>
              <a:t> :</a:t>
            </a:r>
          </a:p>
          <a:p>
            <a:r>
              <a:rPr lang="en-US" altLang="ko-KR" sz="2400"/>
              <a:t>API </a:t>
            </a:r>
            <a:r>
              <a:rPr lang="ko-KR" altLang="en-US" sz="2400"/>
              <a:t>연동 테스트</a:t>
            </a:r>
            <a:r>
              <a:rPr lang="en-US" altLang="ko-KR" sz="2400"/>
              <a:t>, </a:t>
            </a:r>
            <a:r>
              <a:rPr lang="ko-KR" altLang="en-US" sz="2400"/>
              <a:t>서버 구축</a:t>
            </a:r>
            <a:endParaRPr lang="en-US" altLang="ko-KR" sz="2400"/>
          </a:p>
        </p:txBody>
      </p:sp>
    </p:spTree>
    <p:extLst>
      <p:ext uri="{BB962C8B-B14F-4D97-AF65-F5344CB8AC3E}">
        <p14:creationId xmlns:p14="http://schemas.microsoft.com/office/powerpoint/2010/main" val="245769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14C0-EC00-1DF1-339A-87B8BE94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ED8D396-A2BD-E088-CD8B-2856CAFB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기존 </a:t>
            </a:r>
            <a:r>
              <a:rPr lang="en-US" altLang="ko-KR"/>
              <a:t>3D </a:t>
            </a:r>
            <a:r>
              <a:rPr lang="ko-KR" altLang="en-US"/>
              <a:t>복원 기술 비교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FDD9BD60-9D57-7B72-989C-90B7CBD700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5939079"/>
              </p:ext>
            </p:extLst>
          </p:nvPr>
        </p:nvGraphicFramePr>
        <p:xfrm>
          <a:off x="839788" y="1860884"/>
          <a:ext cx="10515600" cy="46319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0696">
                  <a:extLst>
                    <a:ext uri="{9D8B030D-6E8A-4147-A177-3AD203B41FA5}">
                      <a16:colId xmlns:a16="http://schemas.microsoft.com/office/drawing/2014/main" val="980385937"/>
                    </a:ext>
                  </a:extLst>
                </a:gridCol>
                <a:gridCol w="4395537">
                  <a:extLst>
                    <a:ext uri="{9D8B030D-6E8A-4147-A177-3AD203B41FA5}">
                      <a16:colId xmlns:a16="http://schemas.microsoft.com/office/drawing/2014/main" val="1732377031"/>
                    </a:ext>
                  </a:extLst>
                </a:gridCol>
                <a:gridCol w="4489367">
                  <a:extLst>
                    <a:ext uri="{9D8B030D-6E8A-4147-A177-3AD203B41FA5}">
                      <a16:colId xmlns:a16="http://schemas.microsoft.com/office/drawing/2014/main" val="1612417930"/>
                    </a:ext>
                  </a:extLst>
                </a:gridCol>
              </a:tblGrid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비교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기존기술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사진측량</a:t>
                      </a:r>
                      <a:r>
                        <a:rPr lang="en-US" altLang="ko-KR"/>
                        <a:t>/LiDAR)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프로젝트 기술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생성형 </a:t>
                      </a:r>
                      <a:r>
                        <a:rPr lang="en-US" altLang="ko-KR"/>
                        <a:t>AI : Single-view Reconstruction)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622463"/>
                  </a:ext>
                </a:extLst>
              </a:tr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입력데이터</a:t>
                      </a:r>
                      <a:endParaRPr lang="en-US" altLang="ko-KR"/>
                    </a:p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다각도에서 촬영한 수십</a:t>
                      </a:r>
                      <a:r>
                        <a:rPr lang="en-US" altLang="ko-KR"/>
                        <a:t>~</a:t>
                      </a:r>
                      <a:r>
                        <a:rPr lang="ko-KR" altLang="en-US"/>
                        <a:t>수백 장의 고해상도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단 한 장의 정면 이미지 </a:t>
                      </a:r>
                      <a:r>
                        <a:rPr lang="en-US" altLang="ko-KR"/>
                        <a:t>(Single-View Image)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379193"/>
                  </a:ext>
                </a:extLst>
              </a:tr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처리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이미지 간의 특징점 매칭을 통한 기하학적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대규모 데이터셋으로 학습된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의 입체 정보 추론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88930"/>
                  </a:ext>
                </a:extLst>
              </a:tr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복원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사진에 찍힌 부분만 복원 가능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사각지대 발생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보이지 않는 뒷면과 깊이</a:t>
                      </a:r>
                      <a:r>
                        <a:rPr lang="en-US" altLang="ko-KR"/>
                        <a:t>(Depth)</a:t>
                      </a:r>
                      <a:r>
                        <a:rPr lang="ko-KR" altLang="en-US"/>
                        <a:t>까지 자동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195501"/>
                  </a:ext>
                </a:extLst>
              </a:tr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소요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촬영</a:t>
                      </a:r>
                      <a:r>
                        <a:rPr lang="en-US" altLang="ko-KR"/>
                        <a:t>(1</a:t>
                      </a:r>
                      <a:r>
                        <a:rPr lang="ko-KR" altLang="en-US"/>
                        <a:t>시간</a:t>
                      </a:r>
                      <a:r>
                        <a:rPr lang="en-US" altLang="ko-KR"/>
                        <a:t>+) + </a:t>
                      </a:r>
                      <a:r>
                        <a:rPr lang="ko-KR" altLang="en-US"/>
                        <a:t>렌더링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수 시간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촬영 즉시 업로드 → </a:t>
                      </a:r>
                      <a:r>
                        <a:rPr lang="en-US" altLang="ko-KR"/>
                        <a:t>30</a:t>
                      </a:r>
                      <a:r>
                        <a:rPr lang="ko-KR" altLang="en-US"/>
                        <a:t>초</a:t>
                      </a:r>
                      <a:r>
                        <a:rPr lang="en-US" altLang="ko-KR"/>
                        <a:t>~5</a:t>
                      </a:r>
                      <a:r>
                        <a:rPr lang="ko-KR" altLang="en-US"/>
                        <a:t>분 내외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96667"/>
                  </a:ext>
                </a:extLst>
              </a:tr>
              <a:tr h="771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전문성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높음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고가 장비 및 전문 소프트웨어 필요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낮음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일반 스마트폰으로 누구나 가능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3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20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4C4C-F531-7234-1CD4-75A6C4E0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34BB34D-0C99-E264-B3B2-89B3407F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0" y="537410"/>
            <a:ext cx="5466349" cy="718469"/>
          </a:xfrm>
        </p:spPr>
        <p:txBody>
          <a:bodyPr>
            <a:noAutofit/>
          </a:bodyPr>
          <a:lstStyle/>
          <a:p>
            <a:r>
              <a:rPr lang="en-US" altLang="ko-KR"/>
              <a:t>WebXR </a:t>
            </a:r>
            <a:r>
              <a:rPr lang="ko-KR" altLang="en-US"/>
              <a:t>및 뷰어 기술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8D65541-EE1F-A98C-4722-77BDD74B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/>
              <a:t>Google &lt;model-viewer&gt;</a:t>
            </a:r>
          </a:p>
          <a:p>
            <a:r>
              <a:rPr lang="ko-KR" altLang="en-US" sz="2000"/>
              <a:t>웹 표준 기술</a:t>
            </a:r>
            <a:r>
              <a:rPr lang="en-US" altLang="ko-KR" sz="2000"/>
              <a:t>(HTML5/WebGL)</a:t>
            </a:r>
            <a:r>
              <a:rPr lang="ko-KR" altLang="en-US" sz="2000"/>
              <a:t>을 기반으로 별도의 플러그인 설치 없이 </a:t>
            </a:r>
            <a:r>
              <a:rPr lang="en-US" altLang="ko-KR" sz="2000"/>
              <a:t>3D </a:t>
            </a:r>
            <a:r>
              <a:rPr lang="ko-KR" altLang="en-US" sz="2000"/>
              <a:t>모델</a:t>
            </a:r>
            <a:r>
              <a:rPr lang="en-US" altLang="ko-KR" sz="2000"/>
              <a:t>(.glb)</a:t>
            </a:r>
            <a:r>
              <a:rPr lang="ko-KR" altLang="en-US" sz="2000"/>
              <a:t>을 렌더링하는 라이브러리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en-US" altLang="ko-KR" sz="2400"/>
              <a:t>Instant AR: </a:t>
            </a:r>
          </a:p>
          <a:p>
            <a:r>
              <a:rPr lang="en-US" altLang="ko-KR" sz="2000"/>
              <a:t>Android</a:t>
            </a:r>
            <a:r>
              <a:rPr lang="ko-KR" altLang="en-US" sz="2000"/>
              <a:t>의 </a:t>
            </a:r>
            <a:r>
              <a:rPr lang="en-US" altLang="ko-KR" sz="2000"/>
              <a:t>Scene Viewer </a:t>
            </a:r>
            <a:r>
              <a:rPr lang="ko-KR" altLang="en-US" sz="2000"/>
              <a:t>및 </a:t>
            </a:r>
            <a:r>
              <a:rPr lang="en-US" altLang="ko-KR" sz="2000"/>
              <a:t>iOS</a:t>
            </a:r>
            <a:r>
              <a:rPr lang="ko-KR" altLang="en-US" sz="2000"/>
              <a:t>의 </a:t>
            </a:r>
            <a:r>
              <a:rPr lang="en-US" altLang="ko-KR" sz="2000"/>
              <a:t>AR Quick Look</a:t>
            </a:r>
            <a:r>
              <a:rPr lang="ko-KR" altLang="en-US" sz="2000"/>
              <a:t>과 연동되어</a:t>
            </a:r>
            <a:r>
              <a:rPr lang="en-US" altLang="ko-KR" sz="2000"/>
              <a:t>, </a:t>
            </a:r>
            <a:r>
              <a:rPr lang="ko-KR" altLang="en-US" sz="2000"/>
              <a:t>모바일 브라우저에서 버튼 클릭 한 번으로 증강현실 모드로 전환됨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400"/>
              <a:t>선정 이유</a:t>
            </a:r>
            <a:r>
              <a:rPr lang="en-US" altLang="ko-KR" sz="2400"/>
              <a:t>: </a:t>
            </a:r>
          </a:p>
          <a:p>
            <a:r>
              <a:rPr lang="ko-KR" altLang="en-US" sz="2000"/>
              <a:t>사용자에게 앱 설치를 강요하지 않는 </a:t>
            </a:r>
            <a:r>
              <a:rPr lang="en-US" altLang="ko-KR" sz="2000"/>
              <a:t>Web-First </a:t>
            </a:r>
            <a:r>
              <a:rPr lang="ko-KR" altLang="en-US" sz="2000"/>
              <a:t>전략을 통해 접근성을 극대화하기 위함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77995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BAEB-F933-7A78-69BD-79631F09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9305994-59C9-A346-54F9-867BBAC2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0" y="537410"/>
            <a:ext cx="9123949" cy="718469"/>
          </a:xfrm>
        </p:spPr>
        <p:txBody>
          <a:bodyPr>
            <a:noAutofit/>
          </a:bodyPr>
          <a:lstStyle/>
          <a:p>
            <a:r>
              <a:rPr lang="en-US" altLang="ko-KR"/>
              <a:t>AI Gatekeeper (</a:t>
            </a:r>
            <a:r>
              <a:rPr lang="ko-KR" altLang="en-US"/>
              <a:t>지능형 검증 시스템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02ECFE4-61EF-EFDE-B4F8-EF7A30313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무분별한 서버 리소스 낭비를 방지하고</a:t>
            </a:r>
            <a:r>
              <a:rPr lang="en-US" altLang="ko-KR" sz="2000"/>
              <a:t>, </a:t>
            </a:r>
            <a:r>
              <a:rPr lang="ko-KR" altLang="en-US" sz="2000"/>
              <a:t>서비스 취지에 맞는 데이터만 처리하기 위한 이미지 전처리 및 검증 단계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 b="1"/>
              <a:t>기술 스택</a:t>
            </a:r>
            <a:r>
              <a:rPr lang="en-US" altLang="ko-KR" sz="2000"/>
              <a:t>: Google Gemini 2.5 Flash API.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검증 알고리즘</a:t>
            </a:r>
            <a:r>
              <a:rPr lang="en-US" altLang="ko-KR" sz="2400"/>
              <a:t>:</a:t>
            </a:r>
          </a:p>
          <a:p>
            <a:pPr marL="0" indent="0">
              <a:buNone/>
            </a:pPr>
            <a:r>
              <a:rPr lang="ko-KR" altLang="en-US" sz="2000" b="1"/>
              <a:t>입력</a:t>
            </a:r>
            <a:r>
              <a:rPr lang="en-US" altLang="ko-KR" sz="2000"/>
              <a:t>: </a:t>
            </a:r>
            <a:r>
              <a:rPr lang="ko-KR" altLang="en-US" sz="2000"/>
              <a:t>사용자가 업로드한 이미지를 </a:t>
            </a:r>
            <a:r>
              <a:rPr lang="en-US" altLang="ko-KR" sz="2000"/>
              <a:t>Base64</a:t>
            </a:r>
            <a:r>
              <a:rPr lang="ko-KR" altLang="en-US" sz="2000"/>
              <a:t>로 인코딩하여 </a:t>
            </a:r>
            <a:r>
              <a:rPr lang="en-US" altLang="ko-KR" sz="2000"/>
              <a:t>AI</a:t>
            </a:r>
            <a:r>
              <a:rPr lang="ko-KR" altLang="en-US" sz="2000"/>
              <a:t>에 전송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 b="1"/>
              <a:t>분석</a:t>
            </a:r>
            <a:r>
              <a:rPr lang="en-US" altLang="ko-KR" sz="2000"/>
              <a:t>: Gemini 2.5 flash, AI</a:t>
            </a:r>
            <a:r>
              <a:rPr lang="ko-KR" altLang="en-US" sz="2000"/>
              <a:t>가 이미지를 분석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 b="1"/>
              <a:t>판별</a:t>
            </a:r>
            <a:r>
              <a:rPr lang="en-US" altLang="ko-KR" sz="2000"/>
              <a:t>:</a:t>
            </a:r>
          </a:p>
          <a:p>
            <a:pPr marL="0" indent="0">
              <a:buNone/>
            </a:pPr>
            <a:r>
              <a:rPr lang="ko-KR" altLang="en-US" sz="2000"/>
              <a:t>역사적인가</a:t>
            </a:r>
            <a:r>
              <a:rPr lang="en-US" altLang="ko-KR" sz="2000"/>
              <a:t>? : </a:t>
            </a:r>
            <a:r>
              <a:rPr lang="ko-KR" altLang="en-US" sz="2000"/>
              <a:t>유물</a:t>
            </a:r>
            <a:r>
              <a:rPr lang="en-US" altLang="ko-KR" sz="2000"/>
              <a:t>, </a:t>
            </a:r>
            <a:r>
              <a:rPr lang="ko-KR" altLang="en-US" sz="2000"/>
              <a:t>건축물</a:t>
            </a:r>
            <a:r>
              <a:rPr lang="en-US" altLang="ko-KR" sz="2000"/>
              <a:t>, </a:t>
            </a:r>
            <a:r>
              <a:rPr lang="ko-KR" altLang="en-US" sz="2000"/>
              <a:t>예술품으로 식별될 경우 → </a:t>
            </a:r>
            <a:r>
              <a:rPr lang="en-US" altLang="ko-KR" sz="2000"/>
              <a:t>3D </a:t>
            </a:r>
            <a:r>
              <a:rPr lang="ko-KR" altLang="en-US" sz="2000"/>
              <a:t>생성 파이프라인으로 승인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ko-KR" altLang="en-US" sz="2000"/>
              <a:t>역사적이지 않은가</a:t>
            </a:r>
            <a:r>
              <a:rPr lang="en-US" altLang="ko-KR" sz="2000"/>
              <a:t>?: </a:t>
            </a:r>
            <a:r>
              <a:rPr lang="ko-KR" altLang="en-US" sz="2000"/>
              <a:t>인물</a:t>
            </a:r>
            <a:r>
              <a:rPr lang="en-US" altLang="ko-KR" sz="2000"/>
              <a:t>(</a:t>
            </a:r>
            <a:r>
              <a:rPr lang="ko-KR" altLang="en-US" sz="2000"/>
              <a:t>셀카</a:t>
            </a:r>
            <a:r>
              <a:rPr lang="en-US" altLang="ko-KR" sz="2000"/>
              <a:t>), </a:t>
            </a:r>
            <a:r>
              <a:rPr lang="ko-KR" altLang="en-US" sz="2000"/>
              <a:t>음식</a:t>
            </a:r>
            <a:r>
              <a:rPr lang="en-US" altLang="ko-KR" sz="2000"/>
              <a:t>, </a:t>
            </a:r>
            <a:r>
              <a:rPr lang="ko-KR" altLang="en-US" sz="2000"/>
              <a:t>동물</a:t>
            </a:r>
            <a:r>
              <a:rPr lang="en-US" altLang="ko-KR" sz="2000"/>
              <a:t>, </a:t>
            </a:r>
            <a:r>
              <a:rPr lang="ko-KR" altLang="en-US" sz="2000"/>
              <a:t>현대적 사물일 경우 → 요청 차단</a:t>
            </a:r>
            <a:r>
              <a:rPr lang="en-US" altLang="ko-KR" sz="2000"/>
              <a:t> </a:t>
            </a:r>
            <a:r>
              <a:rPr lang="ko-KR" altLang="en-US" sz="2000"/>
              <a:t>및 안내 메시지 출력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60769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622D-334D-E265-70CE-0A09516B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A28095-49FC-009E-7D85-A87605F7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5690938" cy="718469"/>
          </a:xfrm>
        </p:spPr>
        <p:txBody>
          <a:bodyPr>
            <a:noAutofit/>
          </a:bodyPr>
          <a:lstStyle/>
          <a:p>
            <a:r>
              <a:rPr lang="ko-KR" altLang="en-US"/>
              <a:t>전체 시스템 아키텍처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D68A1C0-41DB-8CB2-C45A-5AFC7D39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/>
              <a:t>유지보수 효율성과 확장성을 고려하여 물리적 서버가 없는 </a:t>
            </a:r>
            <a:r>
              <a:rPr lang="en-US" altLang="ko-KR" sz="2000"/>
              <a:t>Serverless </a:t>
            </a:r>
            <a:r>
              <a:rPr lang="ko-KR" altLang="en-US" sz="2000"/>
              <a:t>구조를 채택하였습니다</a:t>
            </a:r>
            <a:r>
              <a:rPr lang="en-US" altLang="ko-KR" sz="2000"/>
              <a:t>. </a:t>
            </a:r>
          </a:p>
          <a:p>
            <a:pPr marL="0" indent="0">
              <a:buNone/>
            </a:pPr>
            <a:r>
              <a:rPr lang="ko-KR" altLang="en-US" sz="2000"/>
              <a:t>시스템은 크게 클라이언트</a:t>
            </a:r>
            <a:r>
              <a:rPr lang="en-US" altLang="ko-KR" sz="2000"/>
              <a:t>, </a:t>
            </a:r>
            <a:r>
              <a:rPr lang="ko-KR" altLang="en-US" sz="2000"/>
              <a:t>미들웨어</a:t>
            </a:r>
            <a:r>
              <a:rPr lang="en-US" altLang="ko-KR" sz="2000"/>
              <a:t>, </a:t>
            </a:r>
            <a:r>
              <a:rPr lang="ko-KR" altLang="en-US" sz="2000"/>
              <a:t>인텔리전스 </a:t>
            </a:r>
            <a:r>
              <a:rPr lang="en-US" altLang="ko-KR" sz="2000"/>
              <a:t>3</a:t>
            </a:r>
            <a:r>
              <a:rPr lang="ko-KR" altLang="en-US" sz="2000"/>
              <a:t>계층으로 구성됩니다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클라이언트 계층</a:t>
            </a:r>
            <a:r>
              <a:rPr lang="en-US" altLang="ko-KR" sz="2400"/>
              <a:t>(WebXR Hybrid App):</a:t>
            </a:r>
          </a:p>
          <a:p>
            <a:r>
              <a:rPr lang="en-US" altLang="ko-KR" sz="2000"/>
              <a:t>HTML5 </a:t>
            </a:r>
            <a:r>
              <a:rPr lang="ko-KR" altLang="en-US" sz="2000"/>
              <a:t>및 </a:t>
            </a:r>
            <a:r>
              <a:rPr lang="en-US" altLang="ko-KR" sz="2000"/>
              <a:t>Google &lt;model-viewer&gt; </a:t>
            </a:r>
            <a:r>
              <a:rPr lang="ko-KR" altLang="en-US" sz="2000"/>
              <a:t>기반의 웹 인터페이스로</a:t>
            </a:r>
            <a:r>
              <a:rPr lang="en-US" altLang="ko-KR" sz="2000"/>
              <a:t>, </a:t>
            </a:r>
            <a:r>
              <a:rPr lang="ko-KR" altLang="en-US" sz="2000"/>
              <a:t>별도의 설치 없이 </a:t>
            </a:r>
            <a:r>
              <a:rPr lang="en-US" altLang="ko-KR" sz="2000"/>
              <a:t>AR </a:t>
            </a:r>
            <a:r>
              <a:rPr lang="ko-KR" altLang="en-US" sz="2000"/>
              <a:t>기능을 제공합니다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Android WebView</a:t>
            </a:r>
            <a:r>
              <a:rPr lang="ko-KR" altLang="en-US" sz="2000"/>
              <a:t>를 통해 네이티브 앱 환경으로 패키징하여 하드웨어 가속 및 </a:t>
            </a:r>
            <a:r>
              <a:rPr lang="en-US" altLang="ko-KR" sz="2000"/>
              <a:t>OS </a:t>
            </a:r>
            <a:r>
              <a:rPr lang="ko-KR" altLang="en-US" sz="2000"/>
              <a:t>기능을 활용합니다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21193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4EB6-63C1-311B-7B3C-7C8972E0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129C210-6DAA-A14F-BFF8-8C6E691F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5690938" cy="718469"/>
          </a:xfrm>
        </p:spPr>
        <p:txBody>
          <a:bodyPr>
            <a:noAutofit/>
          </a:bodyPr>
          <a:lstStyle/>
          <a:p>
            <a:r>
              <a:rPr lang="ko-KR" altLang="en-US"/>
              <a:t>전체 시스템 아키텍처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A8BACD4-C737-1576-458B-39DD3F64F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/>
              <a:t>미들웨어 계층</a:t>
            </a:r>
            <a:r>
              <a:rPr lang="en-US" altLang="ko-KR" sz="2400"/>
              <a:t>(Cloudflare Workers &amp; R2):</a:t>
            </a:r>
          </a:p>
          <a:p>
            <a:r>
              <a:rPr lang="en-US" altLang="ko-KR" sz="2000"/>
              <a:t>Cloudflare Workers: API Gateway </a:t>
            </a:r>
            <a:r>
              <a:rPr lang="ko-KR" altLang="en-US" sz="2000"/>
              <a:t>역할을 수행하며</a:t>
            </a:r>
            <a:r>
              <a:rPr lang="en-US" altLang="ko-KR" sz="2000"/>
              <a:t>, </a:t>
            </a:r>
            <a:r>
              <a:rPr lang="ko-KR" altLang="en-US" sz="2000"/>
              <a:t>클라이언트의 요청을 받아 각 </a:t>
            </a:r>
            <a:r>
              <a:rPr lang="en-US" altLang="ko-KR" sz="2000"/>
              <a:t>AI </a:t>
            </a:r>
            <a:r>
              <a:rPr lang="ko-KR" altLang="en-US" sz="2000"/>
              <a:t>엔진으로 라우팅하고 </a:t>
            </a:r>
            <a:r>
              <a:rPr lang="en-US" altLang="ko-KR" sz="2000"/>
              <a:t>CORS(Cross-Origin Resource Sharing) </a:t>
            </a:r>
            <a:r>
              <a:rPr lang="ko-KR" altLang="en-US" sz="2000"/>
              <a:t>문제를 해결합니다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Cloudflare R2 (Object Storage): </a:t>
            </a:r>
            <a:r>
              <a:rPr lang="ko-KR" altLang="en-US" sz="2000"/>
              <a:t>사용자가 업로드한 이미지와 생성된 </a:t>
            </a:r>
            <a:r>
              <a:rPr lang="en-US" altLang="ko-KR" sz="2000"/>
              <a:t>3D </a:t>
            </a:r>
            <a:r>
              <a:rPr lang="ko-KR" altLang="en-US" sz="2000"/>
              <a:t>모델</a:t>
            </a:r>
            <a:r>
              <a:rPr lang="en-US" altLang="ko-KR" sz="2000"/>
              <a:t>(.glb)</a:t>
            </a:r>
            <a:r>
              <a:rPr lang="ko-KR" altLang="en-US" sz="2000"/>
              <a:t>을 저장하는 객체 스토리지입니다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인텔리전스 계층</a:t>
            </a:r>
            <a:r>
              <a:rPr lang="en-US" altLang="ko-KR" sz="2400"/>
              <a:t>(AI Engines):</a:t>
            </a:r>
          </a:p>
          <a:p>
            <a:r>
              <a:rPr lang="en-US" altLang="ko-KR" sz="2000"/>
              <a:t>Gatekeeper &amp; </a:t>
            </a:r>
            <a:r>
              <a:rPr lang="ko-KR" altLang="en-US" sz="2000"/>
              <a:t>도슨트</a:t>
            </a:r>
            <a:r>
              <a:rPr lang="en-US" altLang="ko-KR" sz="2000"/>
              <a:t>: Google Gemini 2.5 Flash </a:t>
            </a:r>
            <a:r>
              <a:rPr lang="ko-KR" altLang="en-US" sz="2000"/>
              <a:t>모델을 활용하여 문화재 검증 및 다국어 해설 대본을 생성합니다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3D </a:t>
            </a:r>
            <a:r>
              <a:rPr lang="ko-KR" altLang="en-US" sz="2000"/>
              <a:t>생성</a:t>
            </a:r>
            <a:r>
              <a:rPr lang="en-US" altLang="ko-KR" sz="2000"/>
              <a:t>: Hitem3D </a:t>
            </a:r>
            <a:r>
              <a:rPr lang="ko-KR" altLang="en-US" sz="2000"/>
              <a:t>및 </a:t>
            </a:r>
            <a:r>
              <a:rPr lang="en-US" altLang="ko-KR" sz="2000"/>
              <a:t>Tencent Hunyuan </a:t>
            </a:r>
            <a:r>
              <a:rPr lang="ko-KR" altLang="en-US" sz="2000"/>
              <a:t>모델을 통해 </a:t>
            </a:r>
            <a:r>
              <a:rPr lang="en-US" altLang="ko-KR" sz="2000"/>
              <a:t>2D </a:t>
            </a:r>
            <a:r>
              <a:rPr lang="ko-KR" altLang="en-US" sz="2000"/>
              <a:t>이미지를 </a:t>
            </a:r>
            <a:r>
              <a:rPr lang="en-US" altLang="ko-KR" sz="2000"/>
              <a:t>3D </a:t>
            </a:r>
            <a:r>
              <a:rPr lang="ko-KR" altLang="en-US" sz="2000"/>
              <a:t>메쉬로 변환합니다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TTS: Open AI TTS</a:t>
            </a:r>
            <a:r>
              <a:rPr lang="ko-KR" altLang="en-US" sz="2000"/>
              <a:t>를 통해 텍스트를 자연스러운 음성으로 합성합니다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330091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3A25-F9B0-29E4-9F2C-BBD1242F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39B750A-C4E9-263F-A155-60632CBE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구현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BE67128-1838-AC35-C89C-0EAE00143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/>
              <a:t>1.</a:t>
            </a:r>
            <a:r>
              <a:rPr lang="ko-KR" altLang="en-US" sz="3200"/>
              <a:t> 프론트엔드 및 </a:t>
            </a:r>
            <a:r>
              <a:rPr lang="en-US" altLang="ko-KR" sz="3200"/>
              <a:t>WebXR </a:t>
            </a:r>
            <a:r>
              <a:rPr lang="ko-KR" altLang="en-US" sz="3200"/>
              <a:t>뷰어</a:t>
            </a:r>
            <a:endParaRPr lang="en-US" altLang="ko-KR" sz="3200"/>
          </a:p>
          <a:p>
            <a:pPr marL="0" indent="0">
              <a:buNone/>
            </a:pPr>
            <a:r>
              <a:rPr lang="ko-KR" altLang="en-US" sz="2400"/>
              <a:t>기술 스택</a:t>
            </a:r>
            <a:r>
              <a:rPr lang="en-US" altLang="ko-KR" sz="2400"/>
              <a:t>: </a:t>
            </a:r>
          </a:p>
          <a:p>
            <a:r>
              <a:rPr lang="en-US" altLang="ko-KR" sz="2000"/>
              <a:t>HTML5, CSS3, JavaScript (ES6+), Google &lt;model-viewer&gt;</a:t>
            </a:r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구현 내용</a:t>
            </a:r>
            <a:r>
              <a:rPr lang="en-US" altLang="ko-KR" sz="2400"/>
              <a:t>:</a:t>
            </a:r>
          </a:p>
          <a:p>
            <a:r>
              <a:rPr lang="ko-KR" altLang="en-US" sz="2000"/>
              <a:t>반응형 웹 디자인을 적용하여 모바일 환경에 최적화된 </a:t>
            </a:r>
            <a:r>
              <a:rPr lang="en-US" altLang="ko-KR" sz="2000"/>
              <a:t>UI</a:t>
            </a:r>
            <a:r>
              <a:rPr lang="ko-KR" altLang="en-US" sz="2000"/>
              <a:t>를 구현했습니다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&lt;model-viewer&gt; </a:t>
            </a:r>
            <a:r>
              <a:rPr lang="ko-KR" altLang="en-US" sz="2000"/>
              <a:t>컴포넌트의 </a:t>
            </a:r>
            <a:r>
              <a:rPr lang="en-US" altLang="ko-KR" sz="2000"/>
              <a:t>ar </a:t>
            </a:r>
            <a:r>
              <a:rPr lang="ko-KR" altLang="en-US" sz="2000"/>
              <a:t>속성을 활성화하여</a:t>
            </a:r>
            <a:r>
              <a:rPr lang="en-US" altLang="ko-KR" sz="2000"/>
              <a:t>, </a:t>
            </a:r>
            <a:r>
              <a:rPr lang="ko-KR" altLang="en-US" sz="2000"/>
              <a:t>버튼 클릭 시 </a:t>
            </a:r>
            <a:r>
              <a:rPr lang="en-US" altLang="ko-KR" sz="2000"/>
              <a:t>Android</a:t>
            </a:r>
            <a:r>
              <a:rPr lang="ko-KR" altLang="en-US" sz="2000"/>
              <a:t>의 </a:t>
            </a:r>
            <a:r>
              <a:rPr lang="en-US" altLang="ko-KR" sz="2000"/>
              <a:t>Scene Viewer </a:t>
            </a:r>
            <a:r>
              <a:rPr lang="ko-KR" altLang="en-US" sz="2000"/>
              <a:t>및 </a:t>
            </a:r>
            <a:r>
              <a:rPr lang="en-US" altLang="ko-KR" sz="2000"/>
              <a:t>iOS</a:t>
            </a:r>
            <a:r>
              <a:rPr lang="ko-KR" altLang="en-US" sz="2000"/>
              <a:t>의 </a:t>
            </a:r>
            <a:r>
              <a:rPr lang="en-US" altLang="ko-KR" sz="2000"/>
              <a:t>AR Quick Look</a:t>
            </a:r>
            <a:r>
              <a:rPr lang="ko-KR" altLang="en-US" sz="2000"/>
              <a:t>이 즉시 호출되도록 구현했습니다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338366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EB88-A298-79C0-7CB6-BC65DBC4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57155FA-1A3F-567C-8AB6-F5ED766A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구현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DB7EB86-0EDD-354D-B291-13D12510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/>
              <a:t>백엔드 </a:t>
            </a:r>
            <a:r>
              <a:rPr lang="en-US" altLang="ko-KR" sz="3200"/>
              <a:t>(Serverless Proxy)</a:t>
            </a:r>
          </a:p>
          <a:p>
            <a:pPr marL="0" indent="0">
              <a:buNone/>
            </a:pPr>
            <a:r>
              <a:rPr lang="ko-KR" altLang="en-US" sz="2400"/>
              <a:t>기술 스택</a:t>
            </a:r>
            <a:r>
              <a:rPr lang="en-US" altLang="ko-KR" sz="2400"/>
              <a:t>: </a:t>
            </a:r>
          </a:p>
          <a:p>
            <a:r>
              <a:rPr lang="en-US" altLang="ko-KR" sz="2000"/>
              <a:t>Cloudflare Workers (JavaScript)</a:t>
            </a:r>
          </a:p>
          <a:p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구현 내용</a:t>
            </a:r>
            <a:r>
              <a:rPr lang="en-US" altLang="ko-KR" sz="2400"/>
              <a:t>:</a:t>
            </a:r>
          </a:p>
          <a:p>
            <a:r>
              <a:rPr lang="en-US" altLang="ko-KR" sz="2000"/>
              <a:t>API Key</a:t>
            </a:r>
            <a:r>
              <a:rPr lang="ko-KR" altLang="en-US" sz="2000"/>
              <a:t>를 클라이언트에 노출하지 않고 서버</a:t>
            </a:r>
            <a:r>
              <a:rPr lang="en-US" altLang="ko-KR" sz="2000"/>
              <a:t>(Worker) </a:t>
            </a:r>
            <a:r>
              <a:rPr lang="ko-KR" altLang="en-US" sz="2000"/>
              <a:t>환경 변수로 관리하여 보안을 강화했습니다</a:t>
            </a:r>
            <a:r>
              <a:rPr lang="en-US" altLang="ko-KR" sz="2000"/>
              <a:t>. </a:t>
            </a:r>
          </a:p>
          <a:p>
            <a:r>
              <a:rPr lang="en-US" altLang="ko-KR" sz="2000"/>
              <a:t>Gemini, Hitem3D, Google TTS </a:t>
            </a:r>
            <a:r>
              <a:rPr lang="ko-KR" altLang="en-US" sz="2000"/>
              <a:t>등 서로 다른 </a:t>
            </a:r>
            <a:r>
              <a:rPr lang="en-US" altLang="ko-KR" sz="2000"/>
              <a:t>3</a:t>
            </a:r>
            <a:r>
              <a:rPr lang="ko-KR" altLang="en-US" sz="2000"/>
              <a:t>개의 외부 </a:t>
            </a:r>
            <a:r>
              <a:rPr lang="en-US" altLang="ko-KR" sz="2000"/>
              <a:t>API </a:t>
            </a:r>
            <a:r>
              <a:rPr lang="ko-KR" altLang="en-US" sz="2000"/>
              <a:t>요청을 비동기</a:t>
            </a:r>
            <a:r>
              <a:rPr lang="en-US" altLang="ko-KR" sz="2000"/>
              <a:t>(Async/Await)</a:t>
            </a:r>
            <a:r>
              <a:rPr lang="ko-KR" altLang="en-US" sz="2000"/>
              <a:t>로 처리하여 응답 속도를 최적화했습니다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1812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EB45A-1BF4-146F-463E-DA5DD3DE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A91431D-196E-DE6C-2707-A454BCAB5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구현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0EB6DC8-3E8E-FC93-DAE0-EAC5AC17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3200"/>
              <a:t>AI </a:t>
            </a:r>
            <a:r>
              <a:rPr lang="ko-KR" altLang="en-US" sz="3200"/>
              <a:t>도슨트 및 프롬프트 엔지니어링</a:t>
            </a:r>
          </a:p>
          <a:p>
            <a:pPr marL="0" indent="0">
              <a:buNone/>
            </a:pPr>
            <a:r>
              <a:rPr lang="ko-KR" altLang="en-US" sz="2400"/>
              <a:t>기술 스택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/>
              <a:t>Gemini 2.5 Flash, Google TTS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페르소나 엔지니어링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/>
              <a:t>단순 정보 나열을 지양하고</a:t>
            </a:r>
            <a:r>
              <a:rPr lang="en-US" altLang="ko-KR" sz="2000"/>
              <a:t>, </a:t>
            </a:r>
            <a:r>
              <a:rPr lang="ko-KR" altLang="en-US" sz="2000"/>
              <a:t>관람객과 소통하는 듯한 경험을 제공하기 위해 </a:t>
            </a:r>
            <a:r>
              <a:rPr lang="en-US" altLang="ko-KR" sz="2000"/>
              <a:t>"30</a:t>
            </a:r>
            <a:r>
              <a:rPr lang="ko-KR" altLang="en-US" sz="2000"/>
              <a:t>년 경력의 박물관 도슨트</a:t>
            </a:r>
            <a:r>
              <a:rPr lang="en-US" altLang="ko-KR" sz="2000"/>
              <a:t>"</a:t>
            </a:r>
            <a:r>
              <a:rPr lang="ko-KR" altLang="en-US" sz="2000"/>
              <a:t> 페르소나를 시스템 프롬프트에 적용했습니다</a:t>
            </a:r>
            <a:r>
              <a:rPr lang="en-US" altLang="ko-KR" sz="2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구조화된 출력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>
                <a:latin typeface="Courier New" panose="02070309020205020404" pitchFamily="49" charset="0"/>
              </a:rPr>
              <a:t>[</a:t>
            </a:r>
            <a:r>
              <a:rPr lang="ko-KR" altLang="en-US" sz="2000">
                <a:latin typeface="Courier New" panose="02070309020205020404" pitchFamily="49" charset="0"/>
              </a:rPr>
              <a:t>환영 인사</a:t>
            </a:r>
            <a:r>
              <a:rPr lang="en-US" altLang="ko-KR" sz="2000">
                <a:latin typeface="Courier New" panose="02070309020205020404" pitchFamily="49" charset="0"/>
              </a:rPr>
              <a:t>] -&gt; [</a:t>
            </a:r>
            <a:r>
              <a:rPr lang="ko-KR" altLang="en-US" sz="2000">
                <a:latin typeface="Courier New" panose="02070309020205020404" pitchFamily="49" charset="0"/>
              </a:rPr>
              <a:t>역사적 배경 및 용도</a:t>
            </a:r>
            <a:r>
              <a:rPr lang="en-US" altLang="ko-KR" sz="2000">
                <a:latin typeface="Courier New" panose="02070309020205020404" pitchFamily="49" charset="0"/>
              </a:rPr>
              <a:t>] -&gt; [</a:t>
            </a:r>
            <a:r>
              <a:rPr lang="ko-KR" altLang="en-US" sz="2000">
                <a:latin typeface="Courier New" panose="02070309020205020404" pitchFamily="49" charset="0"/>
              </a:rPr>
              <a:t>미적 감상 포인트</a:t>
            </a:r>
            <a:r>
              <a:rPr lang="en-US" altLang="ko-KR" sz="2000">
                <a:latin typeface="Courier New" panose="02070309020205020404" pitchFamily="49" charset="0"/>
              </a:rPr>
              <a:t>]</a:t>
            </a:r>
            <a:r>
              <a:rPr lang="ko-KR" altLang="en-US" sz="2000"/>
              <a:t> </a:t>
            </a:r>
            <a:r>
              <a:rPr lang="en-US" altLang="ko-KR" sz="2000"/>
              <a:t>3</a:t>
            </a:r>
            <a:r>
              <a:rPr lang="ko-KR" altLang="en-US" sz="2000"/>
              <a:t>단 구조로 </a:t>
            </a:r>
            <a:r>
              <a:rPr lang="en-US" altLang="ko-KR" sz="2000"/>
              <a:t>4</a:t>
            </a:r>
            <a:r>
              <a:rPr lang="ko-KR" altLang="en-US" sz="2000"/>
              <a:t>개  국어</a:t>
            </a:r>
            <a:r>
              <a:rPr lang="en-US" altLang="ko-KR" sz="2000"/>
              <a:t>(</a:t>
            </a:r>
            <a:r>
              <a:rPr lang="ko-KR" altLang="en-US" sz="2000"/>
              <a:t>한</a:t>
            </a:r>
            <a:r>
              <a:rPr lang="en-US" altLang="ko-KR" sz="2000"/>
              <a:t>/</a:t>
            </a:r>
            <a:r>
              <a:rPr lang="ko-KR" altLang="en-US" sz="2000"/>
              <a:t>영</a:t>
            </a:r>
            <a:r>
              <a:rPr lang="en-US" altLang="ko-KR" sz="2000"/>
              <a:t>/</a:t>
            </a:r>
            <a:r>
              <a:rPr lang="ko-KR" altLang="en-US" sz="2000"/>
              <a:t>중</a:t>
            </a:r>
            <a:r>
              <a:rPr lang="en-US" altLang="ko-KR" sz="2000"/>
              <a:t>/</a:t>
            </a:r>
            <a:r>
              <a:rPr lang="ko-KR" altLang="en-US" sz="2000"/>
              <a:t>일</a:t>
            </a:r>
            <a:r>
              <a:rPr lang="en-US" altLang="ko-KR" sz="2000"/>
              <a:t>) </a:t>
            </a:r>
            <a:r>
              <a:rPr lang="ko-KR" altLang="en-US" sz="2000"/>
              <a:t>대본을 생성하도록 설계했습니다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449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0903-1024-8C37-2B5B-2B4EA0C9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5189F1E-771E-50B4-AA61-F0035C2B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결과 및 성능 평가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7F3901D-1D8D-BEDE-A999-1E4C1C512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3200"/>
              <a:t>3D </a:t>
            </a:r>
            <a:r>
              <a:rPr lang="ko-KR" altLang="en-US" sz="3200"/>
              <a:t>복원 품질</a:t>
            </a:r>
            <a:endParaRPr lang="en-US" altLang="ko-KR" sz="3200"/>
          </a:p>
          <a:p>
            <a:pPr marL="0" indent="0">
              <a:buNone/>
            </a:pPr>
            <a:r>
              <a:rPr lang="en-US" altLang="ko-KR" sz="2400"/>
              <a:t>Single-View Reconstruction:</a:t>
            </a:r>
            <a:r>
              <a:rPr lang="ko-KR" altLang="en-US" sz="2400"/>
              <a:t> </a:t>
            </a:r>
            <a:endParaRPr lang="en-US" altLang="ko-KR" sz="24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/>
              <a:t>단 한 장의 정면 사진만으로도 보이지 않는 뒷면과 깊이</a:t>
            </a:r>
            <a:r>
              <a:rPr lang="en-US" altLang="ko-KR" sz="2000"/>
              <a:t>(Depth)</a:t>
            </a:r>
            <a:r>
              <a:rPr lang="ko-KR" altLang="en-US" sz="2000"/>
              <a:t>가 자연스럽게 추론된 </a:t>
            </a:r>
            <a:r>
              <a:rPr lang="en-US" altLang="ko-KR" sz="2000"/>
              <a:t>3D </a:t>
            </a:r>
            <a:r>
              <a:rPr lang="ko-KR" altLang="en-US" sz="2000"/>
              <a:t>모델 생성을 확인했습니다</a:t>
            </a:r>
            <a:r>
              <a:rPr lang="en-US" altLang="ko-KR" sz="2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400"/>
              <a:t>Texture Mapping:</a:t>
            </a:r>
            <a:r>
              <a:rPr lang="ko-KR" altLang="en-US" sz="2400"/>
              <a:t> </a:t>
            </a:r>
            <a:endParaRPr lang="en-US" altLang="ko-KR" sz="240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/>
              <a:t>원본 이미지의 질감과 문양이 </a:t>
            </a:r>
            <a:r>
              <a:rPr lang="en-US" altLang="ko-KR" sz="2000"/>
              <a:t>3D </a:t>
            </a:r>
            <a:r>
              <a:rPr lang="ko-KR" altLang="en-US" sz="2000"/>
              <a:t>모델 표면에 왜곡 없이 매핑됨을 검증했습니다</a:t>
            </a:r>
            <a:r>
              <a:rPr lang="en-US" altLang="ko-KR" sz="2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한계점</a:t>
            </a:r>
            <a:r>
              <a:rPr lang="en-US" altLang="ko-KR" sz="2400"/>
              <a:t>:</a:t>
            </a:r>
          </a:p>
          <a:p>
            <a:pPr marL="0" indent="0">
              <a:buNone/>
            </a:pPr>
            <a:r>
              <a:rPr lang="ko-KR" altLang="en-US" sz="2000"/>
              <a:t>고성능 </a:t>
            </a:r>
            <a:r>
              <a:rPr lang="en-US" altLang="ko-KR" sz="2000"/>
              <a:t>3D model</a:t>
            </a:r>
            <a:r>
              <a:rPr lang="ko-KR" altLang="en-US" sz="2000"/>
              <a:t>인 </a:t>
            </a:r>
            <a:r>
              <a:rPr lang="en-US" altLang="ko-KR" sz="2000"/>
              <a:t>Hitem3d</a:t>
            </a:r>
            <a:r>
              <a:rPr lang="ko-KR" altLang="en-US" sz="2000"/>
              <a:t>는 </a:t>
            </a:r>
            <a:r>
              <a:rPr lang="en-US" altLang="ko-KR" sz="2000"/>
              <a:t>1</a:t>
            </a:r>
            <a:r>
              <a:rPr lang="ko-KR" altLang="en-US" sz="2000"/>
              <a:t>회 이미지 생성시</a:t>
            </a:r>
            <a:r>
              <a:rPr lang="en-US" altLang="ko-KR" sz="2000"/>
              <a:t> 5</a:t>
            </a:r>
            <a:r>
              <a:rPr lang="ko-KR" altLang="en-US" sz="2000"/>
              <a:t>분 이상 소요됩니다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878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698A-067C-B081-D1E4-5D4DC162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3232C7-411C-D530-4156-CB1D3E6A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결과 및 성능 평가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5AA247F-31A2-9159-04E0-DDD7C42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/>
              <a:t>AI Gatekeeper </a:t>
            </a:r>
            <a:r>
              <a:rPr lang="ko-KR" altLang="en-US" sz="3200"/>
              <a:t>정확도</a:t>
            </a:r>
            <a:endParaRPr lang="en-US" altLang="ko-KR" sz="3200"/>
          </a:p>
          <a:p>
            <a:pPr marL="0" indent="0">
              <a:buNone/>
            </a:pPr>
            <a:r>
              <a:rPr lang="ko-KR" altLang="en-US" sz="2400"/>
              <a:t>테스트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r>
              <a:rPr lang="ko-KR" altLang="en-US" sz="2000"/>
              <a:t>문화재 사진 </a:t>
            </a:r>
            <a:r>
              <a:rPr lang="en-US" altLang="ko-KR" sz="2000"/>
              <a:t>20</a:t>
            </a:r>
            <a:r>
              <a:rPr lang="ko-KR" altLang="en-US" sz="2000"/>
              <a:t>장과 비문화재</a:t>
            </a:r>
            <a:r>
              <a:rPr lang="en-US" altLang="ko-KR" sz="2000"/>
              <a:t>(</a:t>
            </a:r>
            <a:r>
              <a:rPr lang="ko-KR" altLang="en-US" sz="2000"/>
              <a:t>동물</a:t>
            </a:r>
            <a:r>
              <a:rPr lang="en-US" altLang="ko-KR" sz="2000"/>
              <a:t>, </a:t>
            </a:r>
            <a:r>
              <a:rPr lang="ko-KR" altLang="en-US" sz="2000"/>
              <a:t>풍경</a:t>
            </a:r>
            <a:r>
              <a:rPr lang="en-US" altLang="ko-KR" sz="2000"/>
              <a:t>, </a:t>
            </a:r>
            <a:r>
              <a:rPr lang="ko-KR" altLang="en-US" sz="2000"/>
              <a:t>인물</a:t>
            </a:r>
            <a:r>
              <a:rPr lang="en-US" altLang="ko-KR" sz="2000"/>
              <a:t>) </a:t>
            </a:r>
            <a:r>
              <a:rPr lang="ko-KR" altLang="en-US" sz="2000"/>
              <a:t>사진 </a:t>
            </a:r>
            <a:r>
              <a:rPr lang="en-US" altLang="ko-KR" sz="2000"/>
              <a:t>20</a:t>
            </a:r>
            <a:r>
              <a:rPr lang="ko-KR" altLang="en-US" sz="2000"/>
              <a:t>장을 무작위로 입력하여 검증했습니다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결과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r>
              <a:rPr lang="ko-KR" altLang="en-US" sz="2000"/>
              <a:t> 표본이 적지만</a:t>
            </a:r>
            <a:r>
              <a:rPr lang="en-US" altLang="ko-KR" sz="2000"/>
              <a:t>, </a:t>
            </a:r>
            <a:r>
              <a:rPr lang="ko-KR" altLang="en-US" sz="2000"/>
              <a:t>문화재가 아닌 이미지를 </a:t>
            </a:r>
            <a:r>
              <a:rPr lang="en-US" altLang="ko-KR" sz="2000"/>
              <a:t>100% </a:t>
            </a:r>
            <a:r>
              <a:rPr lang="ko-KR" altLang="en-US" sz="2000"/>
              <a:t>정확도로 식별하여 차단함으로써</a:t>
            </a:r>
            <a:r>
              <a:rPr lang="en-US" altLang="ko-KR" sz="2000"/>
              <a:t>, </a:t>
            </a:r>
            <a:r>
              <a:rPr lang="ko-KR" altLang="en-US" sz="2000"/>
              <a:t>불필요한 </a:t>
            </a:r>
            <a:r>
              <a:rPr lang="en-US" altLang="ko-KR" sz="2000"/>
              <a:t>API </a:t>
            </a:r>
            <a:r>
              <a:rPr lang="ko-KR" altLang="en-US" sz="2000"/>
              <a:t>비용 발생을 효과적으로 억제했습니다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6479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5370-37CB-AF11-5B36-9E7F457A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1AFDE10-268F-E5D3-D51E-9233E1E1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결과 및 성능 평가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C5C55C1-B84B-4952-BE2A-96491888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/>
              <a:t>AI Gatekeeper </a:t>
            </a:r>
            <a:r>
              <a:rPr lang="ko-KR" altLang="en-US" sz="3200"/>
              <a:t>정확도</a:t>
            </a:r>
            <a:endParaRPr lang="en-US" altLang="ko-KR" sz="3200"/>
          </a:p>
          <a:p>
            <a:pPr marL="0" indent="0">
              <a:buNone/>
            </a:pPr>
            <a:r>
              <a:rPr lang="ko-KR" altLang="en-US" sz="2400"/>
              <a:t>테스트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r>
              <a:rPr lang="ko-KR" altLang="en-US" sz="2000"/>
              <a:t>문화재 사진 </a:t>
            </a:r>
            <a:r>
              <a:rPr lang="en-US" altLang="ko-KR" sz="2000"/>
              <a:t>20</a:t>
            </a:r>
            <a:r>
              <a:rPr lang="ko-KR" altLang="en-US" sz="2000"/>
              <a:t>장과 비문화재</a:t>
            </a:r>
            <a:r>
              <a:rPr lang="en-US" altLang="ko-KR" sz="2000"/>
              <a:t>(</a:t>
            </a:r>
            <a:r>
              <a:rPr lang="ko-KR" altLang="en-US" sz="2000"/>
              <a:t>동물</a:t>
            </a:r>
            <a:r>
              <a:rPr lang="en-US" altLang="ko-KR" sz="2000"/>
              <a:t>, </a:t>
            </a:r>
            <a:r>
              <a:rPr lang="ko-KR" altLang="en-US" sz="2000"/>
              <a:t>풍경</a:t>
            </a:r>
            <a:r>
              <a:rPr lang="en-US" altLang="ko-KR" sz="2000"/>
              <a:t>, </a:t>
            </a:r>
            <a:r>
              <a:rPr lang="ko-KR" altLang="en-US" sz="2000"/>
              <a:t>인물</a:t>
            </a:r>
            <a:r>
              <a:rPr lang="en-US" altLang="ko-KR" sz="2000"/>
              <a:t>) </a:t>
            </a:r>
            <a:r>
              <a:rPr lang="ko-KR" altLang="en-US" sz="2000"/>
              <a:t>사진 </a:t>
            </a:r>
            <a:r>
              <a:rPr lang="en-US" altLang="ko-KR" sz="2000"/>
              <a:t>20</a:t>
            </a:r>
            <a:r>
              <a:rPr lang="ko-KR" altLang="en-US" sz="2000"/>
              <a:t>장을 무작위로 입력하여 검증했습니다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결과</a:t>
            </a:r>
            <a:r>
              <a:rPr lang="en-US" altLang="ko-KR" sz="2400"/>
              <a:t>:</a:t>
            </a:r>
            <a:r>
              <a:rPr lang="ko-KR" altLang="en-US" sz="2400"/>
              <a:t> </a:t>
            </a:r>
            <a:endParaRPr lang="en-US" altLang="ko-KR" sz="2400"/>
          </a:p>
          <a:p>
            <a:r>
              <a:rPr lang="ko-KR" altLang="en-US" sz="2000"/>
              <a:t> 표본이 적지만</a:t>
            </a:r>
            <a:r>
              <a:rPr lang="en-US" altLang="ko-KR" sz="2000"/>
              <a:t>, </a:t>
            </a:r>
            <a:r>
              <a:rPr lang="ko-KR" altLang="en-US" sz="2000"/>
              <a:t>문화재가 아닌 이미지를 </a:t>
            </a:r>
            <a:r>
              <a:rPr lang="en-US" altLang="ko-KR" sz="2000"/>
              <a:t>100% </a:t>
            </a:r>
            <a:r>
              <a:rPr lang="ko-KR" altLang="en-US" sz="2000"/>
              <a:t>정확도로 식별하여 차단함으로써</a:t>
            </a:r>
            <a:r>
              <a:rPr lang="en-US" altLang="ko-KR" sz="2000"/>
              <a:t>, </a:t>
            </a:r>
            <a:r>
              <a:rPr lang="ko-KR" altLang="en-US" sz="2000"/>
              <a:t>불필요한 </a:t>
            </a:r>
            <a:r>
              <a:rPr lang="en-US" altLang="ko-KR" sz="2000"/>
              <a:t>API </a:t>
            </a:r>
            <a:r>
              <a:rPr lang="ko-KR" altLang="en-US" sz="2000"/>
              <a:t>비용 발생을 효과적으로 억제했습니다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8222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347C-FE0C-1539-E52A-D1312F60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A667691-7514-7E4B-3B1F-133FFB06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결과 및 성능 평가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39D8BE9-03B0-4976-D6D4-DA4CE5F68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/>
              <a:t>시청각 몰입형 체험 스테이션 구축</a:t>
            </a:r>
            <a:endParaRPr lang="en-US" altLang="ko-KR" sz="3200"/>
          </a:p>
          <a:p>
            <a:pPr marL="0" indent="0">
              <a:buNone/>
            </a:pPr>
            <a:r>
              <a:rPr lang="ko-KR" altLang="en-US" sz="2400"/>
              <a:t>고해상도 디스플레이 환경</a:t>
            </a:r>
            <a:r>
              <a:rPr lang="en-US" altLang="ko-KR" sz="2400"/>
              <a:t>: </a:t>
            </a:r>
          </a:p>
          <a:p>
            <a:r>
              <a:rPr lang="ko-KR" altLang="en-US" sz="2000"/>
              <a:t>스마트폰 화면의 물리적 한계를 극복하기 위해 고해상도 포터블 모니터를 미러링 연동하여</a:t>
            </a:r>
            <a:r>
              <a:rPr lang="en-US" altLang="ko-KR" sz="2000"/>
              <a:t>, 3D </a:t>
            </a:r>
            <a:r>
              <a:rPr lang="ko-KR" altLang="en-US" sz="2000"/>
              <a:t>문화재의 미세한 텍스처를 대화면에서 정밀하게 관찰</a:t>
            </a:r>
            <a:r>
              <a:rPr lang="en-US" altLang="ko-KR" sz="2000"/>
              <a:t>(Deep Zoom)</a:t>
            </a:r>
            <a:r>
              <a:rPr lang="ko-KR" altLang="en-US" sz="2000"/>
              <a:t>할 수 있는 키오스크 환경을 구현했습니다</a:t>
            </a:r>
            <a:r>
              <a:rPr lang="en-US" altLang="ko-KR" sz="2000"/>
              <a:t>. </a:t>
            </a:r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몰입형 오디오 출력 시스템</a:t>
            </a:r>
            <a:r>
              <a:rPr lang="en-US" altLang="ko-KR" sz="2400"/>
              <a:t>: </a:t>
            </a:r>
          </a:p>
          <a:p>
            <a:r>
              <a:rPr lang="ko-KR" altLang="en-US" sz="2000"/>
              <a:t>노이즈 아이솔레이션</a:t>
            </a:r>
            <a:r>
              <a:rPr lang="en-US" altLang="ko-KR" sz="2000"/>
              <a:t>(Noise Isolation) </a:t>
            </a:r>
            <a:r>
              <a:rPr lang="ko-KR" altLang="en-US" sz="2000"/>
              <a:t>헤드폰을 통해 전시장 소음을 차단하고</a:t>
            </a:r>
            <a:r>
              <a:rPr lang="en-US" altLang="ko-KR" sz="2000"/>
              <a:t>, AI </a:t>
            </a:r>
            <a:r>
              <a:rPr lang="ko-KR" altLang="en-US" sz="2000"/>
              <a:t>도슨트의 </a:t>
            </a:r>
            <a:r>
              <a:rPr lang="en-US" altLang="ko-KR" sz="2000"/>
              <a:t>Neural2 </a:t>
            </a:r>
            <a:r>
              <a:rPr lang="ko-KR" altLang="en-US" sz="2000"/>
              <a:t>음성을 손실 없이 전달함으로써 시각과 청각이 완벽히 동기화된 몰입형 관람 경험을 제공했습니다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7305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1647-7965-5527-8BEF-5C8F2CE4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8040A9-5166-DA5F-1171-3C71F020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멘토링 </a:t>
            </a:r>
            <a:r>
              <a:rPr lang="en-US" altLang="ko-KR"/>
              <a:t>- 1</a:t>
            </a:r>
            <a:r>
              <a:rPr lang="ko-KR" altLang="en-US"/>
              <a:t>회차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A16EBA0-3BB5-B586-16CE-BE501DC66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/>
              <a:t>2025/11/18 </a:t>
            </a:r>
            <a:r>
              <a:rPr lang="ko-KR" altLang="en-US" sz="2400"/>
              <a:t>오프라인 진행</a:t>
            </a: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멘토 피드백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ko-KR" altLang="en-US" sz="2000"/>
              <a:t>안드로이드 보안 정책 이슈로 인한 개발 난항 예상</a:t>
            </a:r>
            <a:endParaRPr lang="en-US" altLang="ko-KR" sz="2000"/>
          </a:p>
          <a:p>
            <a:r>
              <a:rPr lang="ko-KR" altLang="en-US" sz="2000"/>
              <a:t>초기 기획된 네이티브 앱 방식은 안드로이드의 엄격한 보안 정책으로 인해 사용자 파일 업로드</a:t>
            </a:r>
            <a:r>
              <a:rPr lang="en-US" altLang="ko-KR" sz="2000"/>
              <a:t>/</a:t>
            </a:r>
            <a:r>
              <a:rPr lang="ko-KR" altLang="en-US" sz="2000"/>
              <a:t>관리가 매우 복잡함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개선 결과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en-US" altLang="ko-KR" sz="2000"/>
              <a:t>Web-First </a:t>
            </a:r>
            <a:r>
              <a:rPr lang="ko-KR" altLang="en-US" sz="2000"/>
              <a:t>전략으로 전면 수정</a:t>
            </a:r>
            <a:endParaRPr lang="en-US" altLang="ko-KR" sz="2000"/>
          </a:p>
          <a:p>
            <a:r>
              <a:rPr lang="ko-KR" altLang="en-US" sz="2000"/>
              <a:t>복잡한 권한 획득 없이 표준 </a:t>
            </a:r>
            <a:r>
              <a:rPr lang="en-US" altLang="ko-KR" sz="2000"/>
              <a:t>API</a:t>
            </a:r>
            <a:r>
              <a:rPr lang="ko-KR" altLang="en-US" sz="2000"/>
              <a:t>로 파일 전송이 가능한 </a:t>
            </a:r>
            <a:r>
              <a:rPr lang="en-US" altLang="ko-KR" sz="2000"/>
              <a:t>WebXR</a:t>
            </a:r>
            <a:r>
              <a:rPr lang="ko-KR" altLang="en-US" sz="2000"/>
              <a:t>로 개발 방향 전환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앱은 웹을 감싸는 하이브리드 형태로 변경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928264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4095-3951-AEDC-B86B-0F97751E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853A43-0BD8-A10D-83AB-940276BC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멘토링 </a:t>
            </a:r>
            <a:r>
              <a:rPr lang="en-US" altLang="ko-KR"/>
              <a:t>- 2</a:t>
            </a:r>
            <a:r>
              <a:rPr lang="ko-KR" altLang="en-US"/>
              <a:t>회차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8EFC62A-133E-3709-EF05-0BA95300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/>
              <a:t>2025/12/8 </a:t>
            </a:r>
            <a:r>
              <a:rPr lang="ko-KR" altLang="en-US" sz="2400"/>
              <a:t>오프라인 진행</a:t>
            </a: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멘토 피드백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ko-KR" altLang="en-US" sz="2000"/>
              <a:t>현재 앱은 이미지를 </a:t>
            </a:r>
            <a:r>
              <a:rPr lang="en-US" altLang="ko-KR" sz="2000"/>
              <a:t>3D</a:t>
            </a:r>
            <a:r>
              <a:rPr lang="ko-KR" altLang="en-US" sz="2000"/>
              <a:t>로 바꿔서 보여주는 기능뿐이라</a:t>
            </a:r>
            <a:r>
              <a:rPr lang="en-US" altLang="ko-KR" sz="2000"/>
              <a:t>, </a:t>
            </a:r>
            <a:r>
              <a:rPr lang="ko-KR" altLang="en-US" sz="2000"/>
              <a:t>사용자가 지속적으로 사용할 유인이 부족함</a:t>
            </a:r>
            <a:endParaRPr lang="en-US" altLang="ko-KR" sz="2000"/>
          </a:p>
          <a:p>
            <a:r>
              <a:rPr lang="ko-KR" altLang="en-US" sz="2000"/>
              <a:t>단순 </a:t>
            </a:r>
            <a:r>
              <a:rPr lang="en-US" altLang="ko-KR" sz="2000"/>
              <a:t>3D </a:t>
            </a:r>
            <a:r>
              <a:rPr lang="ko-KR" altLang="en-US" sz="2000"/>
              <a:t>변환기로는 경쟁력이 부족함</a:t>
            </a:r>
            <a:endParaRPr lang="en-US" altLang="ko-KR" sz="2000"/>
          </a:p>
          <a:p>
            <a:endParaRPr lang="en-US" altLang="ko-KR" sz="2000"/>
          </a:p>
          <a:p>
            <a:pPr marL="0" indent="0">
              <a:buNone/>
            </a:pPr>
            <a:r>
              <a:rPr lang="ko-KR" altLang="en-US" sz="2400"/>
              <a:t>개선 결과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en-US" altLang="ko-KR" sz="2000"/>
              <a:t>AI </a:t>
            </a:r>
            <a:r>
              <a:rPr lang="ko-KR" altLang="en-US" sz="2000"/>
              <a:t>이미지 해설기능 탑재</a:t>
            </a:r>
            <a:endParaRPr lang="en-US" altLang="ko-KR" sz="2000"/>
          </a:p>
          <a:p>
            <a:r>
              <a:rPr lang="en-US" altLang="ko-KR" sz="2000"/>
              <a:t>Gemini Vision API</a:t>
            </a:r>
            <a:r>
              <a:rPr lang="ko-KR" altLang="en-US" sz="2000"/>
              <a:t>를 연동하여 이미지를 식별하고 역사적 배경을 설명하는 텍스트 생성 로직 구현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06668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1A0A-F35F-D2EB-E694-267B8C6C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5EBDE74-CEFD-3819-B245-61EE2F82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멘토링 </a:t>
            </a:r>
            <a:r>
              <a:rPr lang="en-US" altLang="ko-KR"/>
              <a:t>- 3</a:t>
            </a:r>
            <a:r>
              <a:rPr lang="ko-KR" altLang="en-US"/>
              <a:t>회차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F6EE148-157E-EAFA-9FBA-067C5F43F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491915"/>
            <a:ext cx="10724149" cy="482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/>
              <a:t>2025/12/11 </a:t>
            </a:r>
            <a:r>
              <a:rPr lang="ko-KR" altLang="en-US" sz="2400"/>
              <a:t>온라인 진행</a:t>
            </a: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멘토 피드백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ko-KR" altLang="en-US" sz="2000"/>
              <a:t>시각 정보와 청각 정보의 결합 필요</a:t>
            </a:r>
            <a:endParaRPr lang="en-US" altLang="ko-KR" sz="2000"/>
          </a:p>
          <a:p>
            <a:r>
              <a:rPr lang="ko-KR" altLang="en-US" sz="2000"/>
              <a:t>생성된 해설을 </a:t>
            </a:r>
            <a:r>
              <a:rPr lang="en-US" altLang="ko-KR" sz="2000"/>
              <a:t>TTS(</a:t>
            </a:r>
            <a:r>
              <a:rPr lang="ko-KR" altLang="en-US" sz="2000"/>
              <a:t>음성 합성</a:t>
            </a:r>
            <a:r>
              <a:rPr lang="en-US" altLang="ko-KR" sz="2000"/>
              <a:t>)</a:t>
            </a:r>
            <a:r>
              <a:rPr lang="ko-KR" altLang="en-US" sz="2000"/>
              <a:t> 기술로 읽어주는 기능을 추가하여 완성도를 높일 것</a:t>
            </a:r>
            <a:endParaRPr lang="en-US" altLang="ko-KR" sz="2000"/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r>
              <a:rPr lang="ko-KR" altLang="en-US" sz="2400"/>
              <a:t>개선 결과</a:t>
            </a:r>
            <a:r>
              <a:rPr lang="ko-KR" altLang="en-US" sz="2000"/>
              <a:t>	</a:t>
            </a:r>
            <a:endParaRPr lang="en-US" altLang="ko-KR" sz="2000"/>
          </a:p>
          <a:p>
            <a:r>
              <a:rPr lang="en-US" altLang="ko-KR" sz="2000"/>
              <a:t>TTS </a:t>
            </a:r>
            <a:r>
              <a:rPr lang="ko-KR" altLang="en-US" sz="2000"/>
              <a:t>오디오 가이드 구현</a:t>
            </a:r>
            <a:r>
              <a:rPr lang="en-US" altLang="ko-KR" sz="2000"/>
              <a:t>· </a:t>
            </a:r>
          </a:p>
          <a:p>
            <a:r>
              <a:rPr lang="en-US" altLang="ko-KR" sz="2000"/>
              <a:t>Google Cloud TTS</a:t>
            </a:r>
            <a:r>
              <a:rPr lang="ko-KR" altLang="en-US" sz="2000"/>
              <a:t>를 연동하여 자연스러운 음성 안내 기능 추가</a:t>
            </a:r>
            <a:r>
              <a:rPr lang="en-US" altLang="ko-KR" sz="2000"/>
              <a:t>.· </a:t>
            </a:r>
          </a:p>
          <a:p>
            <a:r>
              <a:rPr lang="ko-KR" altLang="en-US" sz="2000"/>
              <a:t>시각</a:t>
            </a:r>
            <a:r>
              <a:rPr lang="en-US" altLang="ko-KR" sz="2000"/>
              <a:t>(3D)</a:t>
            </a:r>
            <a:r>
              <a:rPr lang="ko-KR" altLang="en-US" sz="2000"/>
              <a:t>과 청각</a:t>
            </a:r>
            <a:r>
              <a:rPr lang="en-US" altLang="ko-KR" sz="2000"/>
              <a:t>(Audio)</a:t>
            </a:r>
            <a:r>
              <a:rPr lang="ko-KR" altLang="en-US" sz="2000"/>
              <a:t>이 결합된 입체적 도슨트 서비스 완성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486019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C10E-A6EA-9941-9744-F0CF8023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D4301BA-8B38-9050-ED2E-8E0C9234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소스 코드</a:t>
            </a: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7619AB-29C8-403F-5889-16E1AD58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51" y="1255879"/>
            <a:ext cx="4660919" cy="5064711"/>
          </a:xfrm>
          <a:prstGeom prst="rect">
            <a:avLst/>
          </a:prstGeom>
        </p:spPr>
      </p:pic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C13565-9445-440F-845E-5FFBCD723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725" y="1255879"/>
            <a:ext cx="5348392" cy="4390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ED8F3-5544-A09B-415B-DAAA35E4718A}"/>
              </a:ext>
            </a:extLst>
          </p:cNvPr>
          <p:cNvSpPr txBox="1"/>
          <p:nvPr/>
        </p:nvSpPr>
        <p:spPr>
          <a:xfrm>
            <a:off x="6506725" y="5855368"/>
            <a:ext cx="466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(</a:t>
            </a:r>
            <a:r>
              <a:rPr lang="ko-KR" altLang="en-US"/>
              <a:t>좌</a:t>
            </a:r>
            <a:r>
              <a:rPr lang="en-US" altLang="ko-KR"/>
              <a:t>)api </a:t>
            </a:r>
            <a:r>
              <a:rPr lang="ko-KR" altLang="en-US"/>
              <a:t>관리</a:t>
            </a:r>
            <a:r>
              <a:rPr lang="en-US" altLang="ko-KR"/>
              <a:t>, (</a:t>
            </a:r>
            <a:r>
              <a:rPr lang="ko-KR" altLang="en-US"/>
              <a:t>위</a:t>
            </a:r>
            <a:r>
              <a:rPr lang="en-US" altLang="ko-KR"/>
              <a:t>)3</a:t>
            </a:r>
            <a:r>
              <a:rPr lang="ko-KR" altLang="en-US"/>
              <a:t>단계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2990791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1EC75-0F6F-030D-8A79-C2C286CC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F0FD643-FF53-B215-B0FB-59FAD993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1" y="537410"/>
            <a:ext cx="7150770" cy="718469"/>
          </a:xfrm>
        </p:spPr>
        <p:txBody>
          <a:bodyPr>
            <a:noAutofit/>
          </a:bodyPr>
          <a:lstStyle/>
          <a:p>
            <a:r>
              <a:rPr lang="ko-KR" altLang="en-US"/>
              <a:t>시연 과정</a:t>
            </a:r>
          </a:p>
        </p:txBody>
      </p:sp>
      <p:pic>
        <p:nvPicPr>
          <p:cNvPr id="3" name="그림 2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BA463D-F254-7522-6509-9144D008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51" y="1255879"/>
            <a:ext cx="2369402" cy="5133703"/>
          </a:xfrm>
          <a:prstGeom prst="rect">
            <a:avLst/>
          </a:prstGeom>
        </p:spPr>
      </p:pic>
      <p:pic>
        <p:nvPicPr>
          <p:cNvPr id="6" name="그림 5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8A7383-8628-375D-04FD-2E0911D67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598" y="1255878"/>
            <a:ext cx="2369402" cy="5133705"/>
          </a:xfrm>
          <a:prstGeom prst="rect">
            <a:avLst/>
          </a:prstGeom>
        </p:spPr>
      </p:pic>
      <p:pic>
        <p:nvPicPr>
          <p:cNvPr id="8" name="그림 7" descr="야외, 하늘, 건물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9810B8-5838-88CE-CFD3-B7B9D8041B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025" y="1255879"/>
            <a:ext cx="2369402" cy="5133703"/>
          </a:xfrm>
          <a:prstGeom prst="rect">
            <a:avLst/>
          </a:prstGeom>
        </p:spPr>
      </p:pic>
      <p:pic>
        <p:nvPicPr>
          <p:cNvPr id="5" name="그림 4" descr="문 손잡이, 문, 실내, 엘리베이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AD53ED-90E9-A5C4-5276-F727BD599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368983" y="2453474"/>
            <a:ext cx="3043747" cy="228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02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0A561-5399-7292-53A8-709F9575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시연과정</a:t>
            </a:r>
          </a:p>
        </p:txBody>
      </p:sp>
      <p:pic>
        <p:nvPicPr>
          <p:cNvPr id="5" name="그림 4" descr="전자제품, 실내, 컴퓨터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E8B9B1-C4BF-7DE6-B762-EC219F28F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64" y="2039920"/>
            <a:ext cx="4957188" cy="3717891"/>
          </a:xfrm>
          <a:prstGeom prst="rect">
            <a:avLst/>
          </a:prstGeom>
        </p:spPr>
      </p:pic>
      <p:pic>
        <p:nvPicPr>
          <p:cNvPr id="7" name="그림 6" descr="실내, 벽, 텍스트, 텔레비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4081E4-7A32-8C53-0E2F-336E5E721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750" y="2039920"/>
            <a:ext cx="4957189" cy="371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9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1272</Words>
  <Application>Microsoft Office PowerPoint</Application>
  <PresentationFormat>와이드스크린</PresentationFormat>
  <Paragraphs>166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Courier New</vt:lpstr>
      <vt:lpstr>Office 테마</vt:lpstr>
      <vt:lpstr>지산학  프로젝트 최종 결과 보고서</vt:lpstr>
      <vt:lpstr>기획 의도 및 배경</vt:lpstr>
      <vt:lpstr>팀 구성 및 역할</vt:lpstr>
      <vt:lpstr>기존 3D 복원 기술 비교</vt:lpstr>
      <vt:lpstr>WebXR 및 뷰어 기술</vt:lpstr>
      <vt:lpstr>AI Gatekeeper (지능형 검증 시스템)</vt:lpstr>
      <vt:lpstr>전체 시스템 아키텍처</vt:lpstr>
      <vt:lpstr>전체 시스템 아키텍처</vt:lpstr>
      <vt:lpstr>구현</vt:lpstr>
      <vt:lpstr>구현</vt:lpstr>
      <vt:lpstr>구현</vt:lpstr>
      <vt:lpstr>결과 및 성능 평가</vt:lpstr>
      <vt:lpstr>결과 및 성능 평가</vt:lpstr>
      <vt:lpstr>결과 및 성능 평가</vt:lpstr>
      <vt:lpstr>결과 및 성능 평가</vt:lpstr>
      <vt:lpstr>멘토링 - 1회차</vt:lpstr>
      <vt:lpstr>멘토링 - 2회차</vt:lpstr>
      <vt:lpstr>멘토링 - 3회차</vt:lpstr>
      <vt:lpstr>소스 코드</vt:lpstr>
      <vt:lpstr>시연 과정</vt:lpstr>
      <vt:lpstr>시연과정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최성국</dc:creator>
  <cp:lastModifiedBy>최성국</cp:lastModifiedBy>
  <cp:revision>5</cp:revision>
  <dcterms:created xsi:type="dcterms:W3CDTF">2025-12-11T15:28:30Z</dcterms:created>
  <dcterms:modified xsi:type="dcterms:W3CDTF">2025-12-15T09:10:51Z</dcterms:modified>
</cp:coreProperties>
</file>